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3398500" cy="20104100"/>
  <p:notesSz cx="13398500" cy="201041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33" d="100"/>
          <a:sy n="33" d="100"/>
        </p:scale>
        <p:origin x="2622" y="-24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005363" y="6232271"/>
            <a:ext cx="11394123" cy="422186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010727" y="11258296"/>
            <a:ext cx="9383395" cy="50260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70242" y="4623943"/>
            <a:ext cx="5831110" cy="13268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903497" y="4623943"/>
            <a:ext cx="5831110" cy="13268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11/10/2025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11/10/2025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11/10/2025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5929" y="4957"/>
            <a:ext cx="13393338" cy="2009788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70242" y="804164"/>
            <a:ext cx="12064365" cy="321665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70242" y="4623943"/>
            <a:ext cx="12064365" cy="13268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557649" y="18696814"/>
            <a:ext cx="4289552" cy="10052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70242" y="18696814"/>
            <a:ext cx="3083115" cy="10052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651492" y="18696814"/>
            <a:ext cx="3083115" cy="10052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51265" y="2315663"/>
            <a:ext cx="1551305" cy="2813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50" b="1" dirty="0">
                <a:latin typeface="Arial"/>
                <a:cs typeface="Arial"/>
              </a:rPr>
              <a:t>Sobre</a:t>
            </a:r>
            <a:r>
              <a:rPr sz="1650" b="1" spc="40" dirty="0">
                <a:latin typeface="Arial"/>
                <a:cs typeface="Arial"/>
              </a:rPr>
              <a:t> </a:t>
            </a:r>
            <a:r>
              <a:rPr sz="1650" b="1" dirty="0">
                <a:latin typeface="Arial"/>
                <a:cs typeface="Arial"/>
              </a:rPr>
              <a:t>a</a:t>
            </a:r>
            <a:r>
              <a:rPr sz="1650" b="1" spc="40" dirty="0">
                <a:latin typeface="Arial"/>
                <a:cs typeface="Arial"/>
              </a:rPr>
              <a:t> </a:t>
            </a:r>
            <a:r>
              <a:rPr sz="1650" b="1" spc="-10" dirty="0">
                <a:latin typeface="Arial"/>
                <a:cs typeface="Arial"/>
              </a:rPr>
              <a:t>equipe</a:t>
            </a:r>
            <a:endParaRPr sz="165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51265" y="2817740"/>
            <a:ext cx="6064885" cy="1851025"/>
          </a:xfrm>
          <a:prstGeom prst="rect">
            <a:avLst/>
          </a:prstGeom>
        </p:spPr>
        <p:txBody>
          <a:bodyPr vert="horz" wrap="square" lIns="0" tIns="22225" rIns="0" bIns="0" rtlCol="0">
            <a:spAutoFit/>
          </a:bodyPr>
          <a:lstStyle/>
          <a:p>
            <a:pPr marL="12700" marR="5080">
              <a:lnSpc>
                <a:spcPts val="1300"/>
              </a:lnSpc>
              <a:spcBef>
                <a:spcPts val="175"/>
              </a:spcBef>
            </a:pPr>
            <a:r>
              <a:rPr sz="1100" dirty="0">
                <a:latin typeface="Arial"/>
                <a:cs typeface="Arial"/>
              </a:rPr>
              <a:t>Trabalhar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uma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equipe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apenas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dois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integrantes,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em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vez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dos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quatro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habitualmente </a:t>
            </a:r>
            <a:r>
              <a:rPr sz="1100" dirty="0">
                <a:latin typeface="Arial"/>
                <a:cs typeface="Arial"/>
              </a:rPr>
              <a:t>esperados,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apresentou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um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desafio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que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redefiniu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nossa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dinâmica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execução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gestão.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spc="-20" dirty="0">
                <a:latin typeface="Arial"/>
                <a:cs typeface="Arial"/>
              </a:rPr>
              <a:t>Esta </a:t>
            </a:r>
            <a:r>
              <a:rPr sz="1100" dirty="0">
                <a:latin typeface="Arial"/>
                <a:cs typeface="Arial"/>
              </a:rPr>
              <a:t>configuração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mais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enxuta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exigiu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que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ambos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membros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assumissem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uma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carga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de </a:t>
            </a:r>
            <a:r>
              <a:rPr sz="1100" dirty="0">
                <a:latin typeface="Arial"/>
                <a:cs typeface="Arial"/>
              </a:rPr>
              <a:t>responsabilidade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significativamente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maior,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cobrindo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múltiplas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frentes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projeto </a:t>
            </a:r>
            <a:r>
              <a:rPr sz="1100" dirty="0">
                <a:latin typeface="Arial"/>
                <a:cs typeface="Arial"/>
              </a:rPr>
              <a:t>simultaneamente.</a:t>
            </a:r>
            <a:r>
              <a:rPr sz="1100" spc="-4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</a:t>
            </a:r>
            <a:r>
              <a:rPr sz="1100" spc="-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interdisciplinaridade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foi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chave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nosso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sucesso,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pois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fomos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forçados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spc="-50" dirty="0">
                <a:latin typeface="Arial"/>
                <a:cs typeface="Arial"/>
              </a:rPr>
              <a:t>a </a:t>
            </a:r>
            <a:r>
              <a:rPr sz="1100" dirty="0">
                <a:latin typeface="Arial"/>
                <a:cs typeface="Arial"/>
              </a:rPr>
              <a:t>fundir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ativamente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todos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conhecimentos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das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disciplinas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que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tivemos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longo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semestre, </a:t>
            </a:r>
            <a:r>
              <a:rPr sz="1100" dirty="0">
                <a:latin typeface="Arial"/>
                <a:cs typeface="Arial"/>
              </a:rPr>
              <a:t>pois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não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haviam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"especialistas"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dedicados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para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cada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área.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Surpreendentemente,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isso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tornou </a:t>
            </a:r>
            <a:r>
              <a:rPr sz="1100" dirty="0">
                <a:latin typeface="Arial"/>
                <a:cs typeface="Arial"/>
              </a:rPr>
              <a:t>uma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vantagem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estratégica.</a:t>
            </a:r>
            <a:r>
              <a:rPr sz="1100" spc="-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</a:t>
            </a:r>
            <a:r>
              <a:rPr sz="1100" spc="-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comunicação</a:t>
            </a:r>
            <a:r>
              <a:rPr sz="1100" spc="4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foi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drasticamente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simplificada,</a:t>
            </a:r>
            <a:r>
              <a:rPr sz="1100" spc="4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eliminando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ruídos</a:t>
            </a:r>
            <a:r>
              <a:rPr sz="1100" spc="40" dirty="0">
                <a:latin typeface="Arial"/>
                <a:cs typeface="Arial"/>
              </a:rPr>
              <a:t> </a:t>
            </a:r>
            <a:r>
              <a:rPr sz="1100" spc="-50" dirty="0">
                <a:latin typeface="Arial"/>
                <a:cs typeface="Arial"/>
              </a:rPr>
              <a:t>e </a:t>
            </a:r>
            <a:r>
              <a:rPr sz="1100" dirty="0">
                <a:latin typeface="Arial"/>
                <a:cs typeface="Arial"/>
              </a:rPr>
              <a:t>complexidades.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alinhamento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agendas,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muitas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vezes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um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obstáculo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em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grupos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maiores, </a:t>
            </a:r>
            <a:r>
              <a:rPr sz="1100" dirty="0">
                <a:latin typeface="Arial"/>
                <a:cs typeface="Arial"/>
              </a:rPr>
              <a:t>tornou-se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simples.</a:t>
            </a:r>
            <a:r>
              <a:rPr sz="1100" spc="4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Consequentemente,</a:t>
            </a:r>
            <a:r>
              <a:rPr sz="1100" spc="4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nossas</a:t>
            </a:r>
            <a:r>
              <a:rPr sz="1100" spc="4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sprints</a:t>
            </a:r>
            <a:r>
              <a:rPr sz="1100" spc="4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desenvolvimento</a:t>
            </a:r>
            <a:r>
              <a:rPr sz="1100" spc="4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foram</a:t>
            </a:r>
            <a:r>
              <a:rPr sz="1100" spc="40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executadas </a:t>
            </a:r>
            <a:r>
              <a:rPr sz="1100" dirty="0">
                <a:latin typeface="Arial"/>
                <a:cs typeface="Arial"/>
              </a:rPr>
              <a:t>com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uma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agilidade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notável,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permitindo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iterações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rápidas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feedbacks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quase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instantâneos.</a:t>
            </a:r>
            <a:endParaRPr sz="11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50192" y="2315663"/>
            <a:ext cx="2331720" cy="2813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50" b="1" dirty="0">
                <a:latin typeface="Arial"/>
                <a:cs typeface="Arial"/>
              </a:rPr>
              <a:t>Problema</a:t>
            </a:r>
            <a:r>
              <a:rPr sz="1650" b="1" spc="50" dirty="0">
                <a:latin typeface="Arial"/>
                <a:cs typeface="Arial"/>
              </a:rPr>
              <a:t> </a:t>
            </a:r>
            <a:r>
              <a:rPr sz="1650" b="1" dirty="0">
                <a:latin typeface="Arial"/>
                <a:cs typeface="Arial"/>
              </a:rPr>
              <a:t>a</a:t>
            </a:r>
            <a:r>
              <a:rPr sz="1650" b="1" spc="50" dirty="0">
                <a:latin typeface="Arial"/>
                <a:cs typeface="Arial"/>
              </a:rPr>
              <a:t> </a:t>
            </a:r>
            <a:r>
              <a:rPr sz="1650" b="1" dirty="0">
                <a:latin typeface="Arial"/>
                <a:cs typeface="Arial"/>
              </a:rPr>
              <a:t>ser</a:t>
            </a:r>
            <a:r>
              <a:rPr sz="1650" b="1" spc="50" dirty="0">
                <a:latin typeface="Arial"/>
                <a:cs typeface="Arial"/>
              </a:rPr>
              <a:t> </a:t>
            </a:r>
            <a:r>
              <a:rPr sz="1650" b="1" spc="-10" dirty="0">
                <a:latin typeface="Arial"/>
                <a:cs typeface="Arial"/>
              </a:rPr>
              <a:t>tratado</a:t>
            </a:r>
            <a:endParaRPr sz="165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850192" y="2805917"/>
            <a:ext cx="6105525" cy="2016760"/>
          </a:xfrm>
          <a:prstGeom prst="rect">
            <a:avLst/>
          </a:prstGeom>
        </p:spPr>
        <p:txBody>
          <a:bodyPr vert="horz" wrap="square" lIns="0" tIns="22225" rIns="0" bIns="0" rtlCol="0">
            <a:spAutoFit/>
          </a:bodyPr>
          <a:lstStyle/>
          <a:p>
            <a:pPr marL="12700" marR="5080">
              <a:lnSpc>
                <a:spcPts val="1300"/>
              </a:lnSpc>
              <a:spcBef>
                <a:spcPts val="175"/>
              </a:spcBef>
            </a:pPr>
            <a:r>
              <a:rPr sz="1100" dirty="0">
                <a:latin typeface="Arial"/>
                <a:cs typeface="Arial"/>
              </a:rPr>
              <a:t>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problema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identificado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reside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maior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parcela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base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clientes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Cannoli: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pequenos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50" dirty="0">
                <a:latin typeface="Arial"/>
                <a:cs typeface="Arial"/>
              </a:rPr>
              <a:t>e </a:t>
            </a:r>
            <a:r>
              <a:rPr sz="1100" dirty="0">
                <a:latin typeface="Arial"/>
                <a:cs typeface="Arial"/>
              </a:rPr>
              <a:t>médios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estabelecimentos,</a:t>
            </a:r>
            <a:r>
              <a:rPr sz="1100" spc="4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principalmente</a:t>
            </a:r>
            <a:r>
              <a:rPr sz="1100" spc="4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não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franquiados.</a:t>
            </a:r>
            <a:r>
              <a:rPr sz="1100" spc="4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Estes</a:t>
            </a:r>
            <a:r>
              <a:rPr sz="1100" spc="4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clientes</a:t>
            </a:r>
            <a:r>
              <a:rPr sz="1100" spc="4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operam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em</a:t>
            </a:r>
            <a:r>
              <a:rPr sz="1100" spc="40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um </a:t>
            </a:r>
            <a:r>
              <a:rPr sz="1100" dirty="0">
                <a:latin typeface="Arial"/>
                <a:cs typeface="Arial"/>
              </a:rPr>
              <a:t>mercado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altamente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competitivo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margens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apertadas,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onde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aquisição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novos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clientes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50" dirty="0">
                <a:latin typeface="Arial"/>
                <a:cs typeface="Arial"/>
              </a:rPr>
              <a:t>é </a:t>
            </a:r>
            <a:r>
              <a:rPr sz="1100" dirty="0">
                <a:latin typeface="Arial"/>
                <a:cs typeface="Arial"/>
              </a:rPr>
              <a:t>dispendiosa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fidelização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existentes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é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crucial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para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sustentabilidade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financeira.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No </a:t>
            </a:r>
            <a:r>
              <a:rPr sz="1100" dirty="0">
                <a:latin typeface="Arial"/>
                <a:cs typeface="Arial"/>
              </a:rPr>
              <a:t>entanto,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esses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pequenos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empresários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frequentemente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carecem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4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tempo,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recursos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expertise </a:t>
            </a:r>
            <a:r>
              <a:rPr sz="1100" dirty="0">
                <a:latin typeface="Arial"/>
                <a:cs typeface="Arial"/>
              </a:rPr>
              <a:t>técnica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para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realizar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análises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dados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complexas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ou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para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gerir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campanhas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marketing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de </a:t>
            </a:r>
            <a:r>
              <a:rPr sz="1100" dirty="0">
                <a:latin typeface="Arial"/>
                <a:cs typeface="Arial"/>
              </a:rPr>
              <a:t>retenção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forma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eficaz.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Eles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necessitam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ferramentas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que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não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apenas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capturem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dados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de </a:t>
            </a:r>
            <a:r>
              <a:rPr sz="1100" dirty="0">
                <a:latin typeface="Arial"/>
                <a:cs typeface="Arial"/>
              </a:rPr>
              <a:t>pedidos,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mas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que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ativamente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auxiliem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transformar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esses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dados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em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faturamento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recorrente. </a:t>
            </a:r>
            <a:r>
              <a:rPr sz="1100" dirty="0">
                <a:latin typeface="Arial"/>
                <a:cs typeface="Arial"/>
              </a:rPr>
              <a:t>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desafio,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portanto,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não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era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apenas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técnico,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mas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estratégico: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poderíamos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usar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spc="-50" dirty="0">
                <a:latin typeface="Arial"/>
                <a:cs typeface="Arial"/>
              </a:rPr>
              <a:t>a </a:t>
            </a:r>
            <a:r>
              <a:rPr sz="1100" dirty="0">
                <a:latin typeface="Arial"/>
                <a:cs typeface="Arial"/>
              </a:rPr>
              <a:t>plataforma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da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Cannoli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para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capacitar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esses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estabelecimentos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entenderem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seus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consumidores</a:t>
            </a:r>
            <a:r>
              <a:rPr sz="1100" spc="50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criarem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ações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fidelização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personalizadas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automatizadas,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impulsionando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diretamente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spc="-50" dirty="0">
                <a:latin typeface="Arial"/>
                <a:cs typeface="Arial"/>
              </a:rPr>
              <a:t>o</a:t>
            </a:r>
            <a:r>
              <a:rPr sz="1100" spc="50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seu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faturamento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provando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valor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própria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Cannoli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para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negócio.</a:t>
            </a:r>
            <a:endParaRPr sz="11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23259" y="15604819"/>
            <a:ext cx="1823085" cy="2813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50" b="1" dirty="0">
                <a:latin typeface="Arial"/>
                <a:cs typeface="Arial"/>
              </a:rPr>
              <a:t>Solução</a:t>
            </a:r>
            <a:r>
              <a:rPr sz="1650" b="1" spc="65" dirty="0">
                <a:latin typeface="Arial"/>
                <a:cs typeface="Arial"/>
              </a:rPr>
              <a:t> </a:t>
            </a:r>
            <a:r>
              <a:rPr sz="1650" b="1" spc="-10" dirty="0">
                <a:latin typeface="Arial"/>
                <a:cs typeface="Arial"/>
              </a:rPr>
              <a:t>proposta</a:t>
            </a:r>
            <a:endParaRPr sz="165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23259" y="16106892"/>
            <a:ext cx="6137275" cy="2181860"/>
          </a:xfrm>
          <a:prstGeom prst="rect">
            <a:avLst/>
          </a:prstGeom>
        </p:spPr>
        <p:txBody>
          <a:bodyPr vert="horz" wrap="square" lIns="0" tIns="22225" rIns="0" bIns="0" rtlCol="0">
            <a:spAutoFit/>
          </a:bodyPr>
          <a:lstStyle/>
          <a:p>
            <a:pPr marL="12700" marR="5080">
              <a:lnSpc>
                <a:spcPts val="1300"/>
              </a:lnSpc>
              <a:spcBef>
                <a:spcPts val="175"/>
              </a:spcBef>
            </a:pPr>
            <a:r>
              <a:rPr sz="1100" dirty="0">
                <a:latin typeface="Arial"/>
                <a:cs typeface="Arial"/>
              </a:rPr>
              <a:t>A</a:t>
            </a:r>
            <a:r>
              <a:rPr sz="1100" spc="-4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solução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desenvolvida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ataca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diretamente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ineficiência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operacional.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Propomos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spc="-50" dirty="0">
                <a:latin typeface="Arial"/>
                <a:cs typeface="Arial"/>
              </a:rPr>
              <a:t>a</a:t>
            </a:r>
            <a:r>
              <a:rPr sz="1100" spc="500" dirty="0">
                <a:latin typeface="Arial"/>
                <a:cs typeface="Arial"/>
              </a:rPr>
              <a:t>  </a:t>
            </a:r>
            <a:r>
              <a:rPr sz="1100" dirty="0">
                <a:latin typeface="Arial"/>
                <a:cs typeface="Arial"/>
              </a:rPr>
              <a:t>implementação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um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sistema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inteligência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artificial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que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automatiza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ciclo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completo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de </a:t>
            </a:r>
            <a:r>
              <a:rPr sz="1100" dirty="0">
                <a:latin typeface="Arial"/>
                <a:cs typeface="Arial"/>
              </a:rPr>
              <a:t>engajamento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cliente.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Primeiramente,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automatizamos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geração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análises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relatórios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de </a:t>
            </a:r>
            <a:r>
              <a:rPr sz="1100" dirty="0">
                <a:latin typeface="Arial"/>
                <a:cs typeface="Arial"/>
              </a:rPr>
              <a:t>desempenho,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fornecendo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insights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claros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sem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esforço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manual.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núcleo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solução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é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uso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IA </a:t>
            </a:r>
            <a:r>
              <a:rPr sz="1100" dirty="0">
                <a:latin typeface="Arial"/>
                <a:cs typeface="Arial"/>
              </a:rPr>
              <a:t>para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podermos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automatizar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análise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cálculos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métricas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relevantes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pro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negócio,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além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um </a:t>
            </a:r>
            <a:r>
              <a:rPr sz="1100" dirty="0">
                <a:latin typeface="Arial"/>
                <a:cs typeface="Arial"/>
              </a:rPr>
              <a:t>modelo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machine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learning,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que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opera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em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um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ciclo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retroalimentação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contínua.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Este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modelo </a:t>
            </a:r>
            <a:r>
              <a:rPr sz="1100" dirty="0">
                <a:latin typeface="Arial"/>
                <a:cs typeface="Arial"/>
              </a:rPr>
              <a:t>analisa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automaticamente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pedidos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compras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clientes,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isso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aprende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padrões</a:t>
            </a:r>
            <a:r>
              <a:rPr sz="1100" spc="50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resultados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para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ajustar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campanhas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que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estão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ativas,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alterando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informações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das </a:t>
            </a:r>
            <a:r>
              <a:rPr sz="1100" dirty="0">
                <a:latin typeface="Arial"/>
                <a:cs typeface="Arial"/>
              </a:rPr>
              <a:t>campanhas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que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modelo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entenda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influenciar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positivamente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nas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compras,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em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busca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uma </a:t>
            </a:r>
            <a:r>
              <a:rPr sz="1100" dirty="0">
                <a:latin typeface="Arial"/>
                <a:cs typeface="Arial"/>
              </a:rPr>
              <a:t>maior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eficiência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por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consequência,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maior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faturamento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cliente.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isso,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clientes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da </a:t>
            </a:r>
            <a:r>
              <a:rPr sz="1100" dirty="0">
                <a:latin typeface="Arial"/>
                <a:cs typeface="Arial"/>
              </a:rPr>
              <a:t>Cannoli,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assim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administradores,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poderão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entender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maneira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mais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simplificada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os </a:t>
            </a:r>
            <a:r>
              <a:rPr sz="1100" dirty="0">
                <a:latin typeface="Arial"/>
                <a:cs typeface="Arial"/>
              </a:rPr>
              <a:t>resultados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tendências,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sem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necessidade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aplicar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um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tempo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seu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dia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tão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corrido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50" dirty="0">
                <a:latin typeface="Arial"/>
                <a:cs typeface="Arial"/>
              </a:rPr>
              <a:t>a</a:t>
            </a:r>
            <a:r>
              <a:rPr sz="1100" spc="50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esta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tarefa.</a:t>
            </a:r>
            <a:endParaRPr sz="11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761921" y="159112"/>
            <a:ext cx="7924165" cy="1679575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420"/>
              </a:spcBef>
            </a:pPr>
            <a:r>
              <a:rPr sz="3650" b="1" dirty="0">
                <a:solidFill>
                  <a:srgbClr val="FFFFFF"/>
                </a:solidFill>
                <a:latin typeface="Arial"/>
                <a:cs typeface="Arial"/>
              </a:rPr>
              <a:t>Semana</a:t>
            </a:r>
            <a:r>
              <a:rPr sz="3650" b="1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650" b="1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3650" b="1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650" b="1" spc="-10" dirty="0">
                <a:solidFill>
                  <a:srgbClr val="FFFFFF"/>
                </a:solidFill>
                <a:latin typeface="Arial"/>
                <a:cs typeface="Arial"/>
              </a:rPr>
              <a:t>Tecnologia</a:t>
            </a:r>
            <a:r>
              <a:rPr sz="3650" b="1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650" b="1" dirty="0">
                <a:solidFill>
                  <a:srgbClr val="FFFFFF"/>
                </a:solidFill>
                <a:latin typeface="Arial"/>
                <a:cs typeface="Arial"/>
              </a:rPr>
              <a:t>FECAP</a:t>
            </a:r>
            <a:r>
              <a:rPr sz="3650" b="1" spc="-1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650" b="1" spc="-20" dirty="0">
                <a:solidFill>
                  <a:srgbClr val="FFFFFF"/>
                </a:solidFill>
                <a:latin typeface="Arial"/>
                <a:cs typeface="Arial"/>
              </a:rPr>
              <a:t>2025</a:t>
            </a:r>
            <a:endParaRPr sz="3650">
              <a:latin typeface="Arial"/>
              <a:cs typeface="Arial"/>
            </a:endParaRPr>
          </a:p>
          <a:p>
            <a:pPr marL="45720" algn="ctr">
              <a:lnSpc>
                <a:spcPct val="100000"/>
              </a:lnSpc>
              <a:spcBef>
                <a:spcPts val="225"/>
              </a:spcBef>
            </a:pPr>
            <a:r>
              <a:rPr sz="2700" b="1" spc="-10" dirty="0">
                <a:latin typeface="Arial"/>
                <a:cs typeface="Arial"/>
              </a:rPr>
              <a:t>Cannolyze</a:t>
            </a:r>
            <a:endParaRPr sz="2700">
              <a:latin typeface="Arial"/>
              <a:cs typeface="Arial"/>
            </a:endParaRPr>
          </a:p>
          <a:p>
            <a:pPr marR="68580" algn="ctr">
              <a:lnSpc>
                <a:spcPct val="100000"/>
              </a:lnSpc>
              <a:spcBef>
                <a:spcPts val="495"/>
              </a:spcBef>
            </a:pPr>
            <a:r>
              <a:rPr sz="1700" b="1" dirty="0">
                <a:latin typeface="Arial"/>
                <a:cs typeface="Arial"/>
              </a:rPr>
              <a:t>Luciano</a:t>
            </a:r>
            <a:r>
              <a:rPr sz="1700" b="1" spc="25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Reis</a:t>
            </a:r>
            <a:r>
              <a:rPr sz="1700" b="1" spc="3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Massaro;</a:t>
            </a:r>
            <a:r>
              <a:rPr sz="1700" b="1" spc="30" dirty="0">
                <a:latin typeface="Arial"/>
                <a:cs typeface="Arial"/>
              </a:rPr>
              <a:t> </a:t>
            </a:r>
            <a:r>
              <a:rPr sz="1700" b="1" dirty="0">
                <a:latin typeface="Arial"/>
                <a:cs typeface="Arial"/>
              </a:rPr>
              <a:t>Ettore</a:t>
            </a:r>
            <a:r>
              <a:rPr sz="1700" b="1" spc="30" dirty="0">
                <a:latin typeface="Arial"/>
                <a:cs typeface="Arial"/>
              </a:rPr>
              <a:t> </a:t>
            </a:r>
            <a:r>
              <a:rPr sz="1700" b="1" spc="-10" dirty="0">
                <a:latin typeface="Arial"/>
                <a:cs typeface="Arial"/>
              </a:rPr>
              <a:t>Grecco</a:t>
            </a:r>
            <a:endParaRPr sz="1700">
              <a:latin typeface="Arial"/>
              <a:cs typeface="Arial"/>
            </a:endParaRPr>
          </a:p>
          <a:p>
            <a:pPr marL="337820" algn="ctr">
              <a:lnSpc>
                <a:spcPct val="100000"/>
              </a:lnSpc>
              <a:spcBef>
                <a:spcPts val="875"/>
              </a:spcBef>
            </a:pPr>
            <a:r>
              <a:rPr sz="1200" b="1" dirty="0">
                <a:latin typeface="Arial"/>
                <a:cs typeface="Arial"/>
              </a:rPr>
              <a:t>Rafael</a:t>
            </a:r>
            <a:r>
              <a:rPr sz="1200" b="1" spc="10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Rossetti;</a:t>
            </a:r>
            <a:r>
              <a:rPr sz="1200" b="1" spc="15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Victor</a:t>
            </a:r>
            <a:r>
              <a:rPr sz="1200" b="1" spc="10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Rosetti;</a:t>
            </a:r>
            <a:r>
              <a:rPr sz="1200" b="1" spc="15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Renata</a:t>
            </a:r>
            <a:r>
              <a:rPr sz="1200" b="1" spc="15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Muniz;</a:t>
            </a:r>
            <a:r>
              <a:rPr sz="1200" b="1" spc="10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Marcos</a:t>
            </a:r>
            <a:r>
              <a:rPr sz="1200" b="1" spc="15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Minoru;</a:t>
            </a:r>
            <a:r>
              <a:rPr sz="1200" b="1" spc="15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Rodrigo</a:t>
            </a:r>
            <a:r>
              <a:rPr sz="1200" b="1" spc="10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da</a:t>
            </a:r>
            <a:r>
              <a:rPr sz="1200" b="1" spc="15" dirty="0">
                <a:latin typeface="Arial"/>
                <a:cs typeface="Arial"/>
              </a:rPr>
              <a:t> </a:t>
            </a:r>
            <a:r>
              <a:rPr sz="1200" b="1" spc="-20" dirty="0">
                <a:latin typeface="Arial"/>
                <a:cs typeface="Arial"/>
              </a:rPr>
              <a:t>Rosa</a:t>
            </a:r>
            <a:endParaRPr sz="12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847225" y="15604819"/>
            <a:ext cx="1798955" cy="2813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650" b="1" dirty="0">
                <a:latin typeface="Arial"/>
                <a:cs typeface="Arial"/>
              </a:rPr>
              <a:t>Futuro</a:t>
            </a:r>
            <a:r>
              <a:rPr sz="1650" b="1" spc="30" dirty="0">
                <a:latin typeface="Arial"/>
                <a:cs typeface="Arial"/>
              </a:rPr>
              <a:t> </a:t>
            </a:r>
            <a:r>
              <a:rPr sz="1650" b="1" dirty="0">
                <a:latin typeface="Arial"/>
                <a:cs typeface="Arial"/>
              </a:rPr>
              <a:t>do</a:t>
            </a:r>
            <a:r>
              <a:rPr sz="1650" b="1" spc="35" dirty="0">
                <a:latin typeface="Arial"/>
                <a:cs typeface="Arial"/>
              </a:rPr>
              <a:t> </a:t>
            </a:r>
            <a:r>
              <a:rPr sz="1650" b="1" spc="-10" dirty="0">
                <a:latin typeface="Arial"/>
                <a:cs typeface="Arial"/>
              </a:rPr>
              <a:t>projeto</a:t>
            </a:r>
            <a:endParaRPr sz="165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847225" y="16106892"/>
            <a:ext cx="6082030" cy="2513330"/>
          </a:xfrm>
          <a:prstGeom prst="rect">
            <a:avLst/>
          </a:prstGeom>
        </p:spPr>
        <p:txBody>
          <a:bodyPr vert="horz" wrap="square" lIns="0" tIns="22225" rIns="0" bIns="0" rtlCol="0">
            <a:spAutoFit/>
          </a:bodyPr>
          <a:lstStyle/>
          <a:p>
            <a:pPr marL="12700" marR="5080">
              <a:lnSpc>
                <a:spcPts val="1300"/>
              </a:lnSpc>
              <a:spcBef>
                <a:spcPts val="175"/>
              </a:spcBef>
            </a:pPr>
            <a:r>
              <a:rPr sz="1100" dirty="0">
                <a:latin typeface="Arial"/>
                <a:cs typeface="Arial"/>
              </a:rPr>
              <a:t>Olhando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para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futuro,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próximo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passo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para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evolução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deste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projeto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é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transição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protótipo </a:t>
            </a:r>
            <a:r>
              <a:rPr sz="1100" dirty="0">
                <a:latin typeface="Arial"/>
                <a:cs typeface="Arial"/>
              </a:rPr>
              <a:t>acadêmico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para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um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produto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comercialmente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viável.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Para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isso,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é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imprescindível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que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tenhamos </a:t>
            </a:r>
            <a:r>
              <a:rPr sz="1100" dirty="0">
                <a:latin typeface="Arial"/>
                <a:cs typeface="Arial"/>
              </a:rPr>
              <a:t>acesso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dados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oficiais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clientes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Cannoli,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bem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informações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campanhas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50" dirty="0">
                <a:latin typeface="Arial"/>
                <a:cs typeface="Arial"/>
              </a:rPr>
              <a:t>e </a:t>
            </a:r>
            <a:r>
              <a:rPr sz="1100" dirty="0">
                <a:latin typeface="Arial"/>
                <a:cs typeface="Arial"/>
              </a:rPr>
              <a:t>métricas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resultado.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isso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conseguiremos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aplicar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este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modelo,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que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hoje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é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alimentado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por </a:t>
            </a:r>
            <a:r>
              <a:rPr sz="1100" dirty="0">
                <a:latin typeface="Arial"/>
                <a:cs typeface="Arial"/>
              </a:rPr>
              <a:t>uma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base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fixa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teste,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uma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base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robusta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real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dos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pedidos.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Pensando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investimento </a:t>
            </a:r>
            <a:r>
              <a:rPr sz="1100" dirty="0">
                <a:latin typeface="Arial"/>
                <a:cs typeface="Arial"/>
              </a:rPr>
              <a:t>necessário,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estimamos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que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os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custos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operacionais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sejam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reduzidos,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considerando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que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nosso </a:t>
            </a:r>
            <a:r>
              <a:rPr sz="1100" dirty="0">
                <a:latin typeface="Arial"/>
                <a:cs typeface="Arial"/>
              </a:rPr>
              <a:t>projeto</a:t>
            </a:r>
            <a:r>
              <a:rPr sz="1100" spc="1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foi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pensado</a:t>
            </a:r>
            <a:r>
              <a:rPr sz="1100" spc="1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para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base</a:t>
            </a:r>
            <a:r>
              <a:rPr sz="1100" spc="1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dados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que</a:t>
            </a:r>
            <a:r>
              <a:rPr sz="1100" spc="1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própria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empresa</a:t>
            </a:r>
            <a:r>
              <a:rPr sz="1100" spc="1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já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possui,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sem</a:t>
            </a:r>
            <a:r>
              <a:rPr sz="1100" spc="1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necessidade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uma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nova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implementação.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Sendo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assim,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seriam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somente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custos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implantação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do </a:t>
            </a:r>
            <a:r>
              <a:rPr sz="1100" dirty="0">
                <a:latin typeface="Arial"/>
                <a:cs typeface="Arial"/>
              </a:rPr>
              <a:t>modelo,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principalmente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que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tange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processamento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dados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em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tempo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real,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bem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50" dirty="0">
                <a:latin typeface="Arial"/>
                <a:cs typeface="Arial"/>
              </a:rPr>
              <a:t>o </a:t>
            </a:r>
            <a:r>
              <a:rPr sz="1100" dirty="0">
                <a:latin typeface="Arial"/>
                <a:cs typeface="Arial"/>
              </a:rPr>
              <a:t>custo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da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equipe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desenvolvedores.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Paralelamente,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podemos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estruturar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um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roadmap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claro</a:t>
            </a:r>
            <a:r>
              <a:rPr sz="1100" spc="35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de </a:t>
            </a:r>
            <a:r>
              <a:rPr sz="1100" dirty="0">
                <a:latin typeface="Arial"/>
                <a:cs typeface="Arial"/>
              </a:rPr>
              <a:t>evolução,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incluindo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desenvolvimento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das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novas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features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que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avaliamos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necessárias,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spc="-50" dirty="0">
                <a:latin typeface="Arial"/>
                <a:cs typeface="Arial"/>
              </a:rPr>
              <a:t>o </a:t>
            </a:r>
            <a:r>
              <a:rPr sz="1100" dirty="0">
                <a:latin typeface="Arial"/>
                <a:cs typeface="Arial"/>
              </a:rPr>
              <a:t>envio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reports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automatizados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para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clientes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administradores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Cannoli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50" dirty="0">
                <a:latin typeface="Arial"/>
                <a:cs typeface="Arial"/>
              </a:rPr>
              <a:t>a</a:t>
            </a:r>
            <a:r>
              <a:rPr sz="1100" spc="50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implementação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modelo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autonomia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suficiente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para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alteração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de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campanhas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spc="-20" dirty="0">
                <a:latin typeface="Arial"/>
                <a:cs typeface="Arial"/>
              </a:rPr>
              <a:t>base</a:t>
            </a:r>
            <a:r>
              <a:rPr sz="1100" spc="50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nos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padrões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por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ele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analisados,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fazendo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com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que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resultados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cresçam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sem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a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necessidade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de </a:t>
            </a:r>
            <a:r>
              <a:rPr sz="1100" dirty="0">
                <a:latin typeface="Arial"/>
                <a:cs typeface="Arial"/>
              </a:rPr>
              <a:t>trabalho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manual,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somente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utilizando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</a:t>
            </a:r>
            <a:r>
              <a:rPr sz="1100" spc="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modelo</a:t>
            </a:r>
            <a:r>
              <a:rPr sz="1100" spc="30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retroalimentado.</a:t>
            </a:r>
            <a:endParaRPr sz="11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924198" y="5195570"/>
            <a:ext cx="555117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b="1" dirty="0">
                <a:latin typeface="Arial"/>
                <a:cs typeface="Arial"/>
              </a:rPr>
              <a:t>Imagens</a:t>
            </a:r>
            <a:r>
              <a:rPr sz="2700" b="1" spc="-30" dirty="0">
                <a:latin typeface="Arial"/>
                <a:cs typeface="Arial"/>
              </a:rPr>
              <a:t> </a:t>
            </a:r>
            <a:r>
              <a:rPr sz="2700" b="1" dirty="0">
                <a:latin typeface="Arial"/>
                <a:cs typeface="Arial"/>
              </a:rPr>
              <a:t>e</a:t>
            </a:r>
            <a:r>
              <a:rPr sz="2700" b="1" spc="-30" dirty="0">
                <a:latin typeface="Arial"/>
                <a:cs typeface="Arial"/>
              </a:rPr>
              <a:t> </a:t>
            </a:r>
            <a:r>
              <a:rPr sz="2700" b="1" dirty="0">
                <a:latin typeface="Arial"/>
                <a:cs typeface="Arial"/>
              </a:rPr>
              <a:t>ferramentas</a:t>
            </a:r>
            <a:r>
              <a:rPr sz="2700" b="1" spc="-30" dirty="0">
                <a:latin typeface="Arial"/>
                <a:cs typeface="Arial"/>
              </a:rPr>
              <a:t> </a:t>
            </a:r>
            <a:r>
              <a:rPr sz="2700" b="1" dirty="0">
                <a:latin typeface="Arial"/>
                <a:cs typeface="Arial"/>
              </a:rPr>
              <a:t>do</a:t>
            </a:r>
            <a:r>
              <a:rPr sz="2700" b="1" spc="-35" dirty="0">
                <a:latin typeface="Arial"/>
                <a:cs typeface="Arial"/>
              </a:rPr>
              <a:t> </a:t>
            </a:r>
            <a:r>
              <a:rPr sz="2700" b="1" spc="-10" dirty="0">
                <a:latin typeface="Arial"/>
                <a:cs typeface="Arial"/>
              </a:rPr>
              <a:t>Projeto</a:t>
            </a:r>
            <a:endParaRPr sz="27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7135" y="18783760"/>
            <a:ext cx="13343627" cy="1320339"/>
            <a:chOff x="57135" y="18783760"/>
            <a:chExt cx="13343627" cy="1320339"/>
          </a:xfrm>
        </p:grpSpPr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7135" y="18783760"/>
              <a:ext cx="1441012" cy="1320339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2009459" y="18796203"/>
              <a:ext cx="1391303" cy="1307895"/>
            </a:xfrm>
            <a:prstGeom prst="rect">
              <a:avLst/>
            </a:prstGeom>
          </p:spPr>
        </p:pic>
      </p:grpSp>
      <p:pic>
        <p:nvPicPr>
          <p:cNvPr id="1028" name="Picture 4" descr="Ficheiro:Python-logo-notext.svg – Wikipédia, a enciclopédia livre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8281" y="12557081"/>
            <a:ext cx="1990769" cy="1990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AutoShape 6" descr="Streamlit Logo PNG Vector (SVG) Free Download"/>
          <p:cNvSpPr>
            <a:spLocks noChangeAspect="1" noChangeArrowheads="1"/>
          </p:cNvSpPr>
          <p:nvPr/>
        </p:nvSpPr>
        <p:spPr bwMode="auto">
          <a:xfrm>
            <a:off x="-2444751" y="8299450"/>
            <a:ext cx="2768009" cy="2768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1038" name="Picture 14" descr="Ficheiro:Scikit learn logo small.svg – Wikipédia, a enciclopédia livre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0251" y="12775102"/>
            <a:ext cx="4571999" cy="1772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Github Logo - Free social media icon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696" y="12393887"/>
            <a:ext cx="2317154" cy="2317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</TotalTime>
  <Words>765</Words>
  <Application>Microsoft Office PowerPoint</Application>
  <PresentationFormat>Personalizar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Banner_FECAP_5NACCOMP_CANNOLYZE</dc:title>
  <cp:lastModifiedBy>Valter</cp:lastModifiedBy>
  <cp:revision>3</cp:revision>
  <dcterms:created xsi:type="dcterms:W3CDTF">2025-11-04T22:20:09Z</dcterms:created>
  <dcterms:modified xsi:type="dcterms:W3CDTF">2025-11-10T20:19:08Z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2025-11-04T00:00:00Z</vt:filetime>
  </property>
  <property fmtid="{D5CDD505-2E9C-101B-9397-08002B2CF9AE}" pid="3" name="Creator">
    <vt:lpwstr>Keynote</vt:lpwstr>
  </property>
  <property fmtid="{D5CDD505-2E9C-101B-9397-08002B2CF9AE}" pid="4" name="LastSaved">
    <vt:filetime>2025-11-04T00:00:00Z</vt:filetime>
  </property>
  <property fmtid="{D5CDD505-2E9C-101B-9397-08002B2CF9AE}" pid="5" name="Producer">
    <vt:lpwstr>CloudConvert</vt:lpwstr>
  </property>
</Properties>
</file>